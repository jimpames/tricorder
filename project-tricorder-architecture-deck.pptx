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3600" b="1">
                <a:solidFill>
                  <a:srgbClr val="10B981"/>
                </a:solidFill>
                <a:latin typeface="Georgia"/>
              </a:defRPr>
            </a:pPr>
            <a:r>
              <a:t>PROJECT TRICORDER Mk I</a:t>
            </a:r>
          </a:p>
          <a:p>
            <a:pPr algn="ctr">
              <a:spcAft>
                <a:spcPts val="1800"/>
              </a:spcAft>
              <a:defRPr sz="2000" b="1">
                <a:solidFill>
                  <a:srgbClr val="F8FAFC"/>
                </a:solidFill>
                <a:latin typeface="Verdana"/>
              </a:defRPr>
            </a:pPr>
            <a:r>
              <a:t>Core Software Architecture &amp; Real-Time OS Design Patterns</a:t>
            </a:r>
          </a:p>
          <a:p>
            <a:pPr algn="ctr">
              <a:spcAft>
                <a:spcPts val="2400"/>
              </a:spcAft>
              <a:defRPr sz="1400">
                <a:solidFill>
                  <a:srgbClr val="F59E0B"/>
                </a:solidFill>
                <a:latin typeface="Verdana"/>
              </a:defRPr>
            </a:pPr>
            <a:r>
              <a:t>Four Decades of Systems Engineering Applied to Autonomous Edge AI</a:t>
            </a:r>
          </a:p>
          <a:p>
            <a:pPr algn="ctr">
              <a:defRPr sz="1100">
                <a:solidFill>
                  <a:srgbClr val="94A3B8"/>
                </a:solidFill>
                <a:latin typeface="Verdana"/>
              </a:defRPr>
            </a:pPr>
            <a:r>
              <a:t>N2NHU Labs • Reference Hardware: Samsung Galaxy Z Fold 3 • Offline-First Edge Instrument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Verdana"/>
              </a:defRPr>
            </a:pPr>
            <a:r>
              <a:t>PROJECT TRICORDER MK I •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200" b="1">
                <a:solidFill>
                  <a:srgbClr val="F8FAFC"/>
                </a:solidFill>
                <a:latin typeface="Georgia"/>
              </a:defRPr>
            </a:pPr>
            <a:r>
              <a:t>Four Decades of Systems Theory Realized in an Autonomous Edge-AI Instrument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  <a:latin typeface="Verdana"/>
              </a:defRPr>
            </a:pPr>
            <a:r>
              <a:t>Project Tricorder replaces cloud API dependencies with clean real-time systems engineering. By applying battle-tested software design patterns, it coordinates heterogeneous AI models, physical sensors, and mesh radios on a single Snapdragon 888 platform.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68880"/>
            <a:ext cx="3328416" cy="38404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000" b="1">
                <a:solidFill>
                  <a:srgbClr val="10B981"/>
                </a:solidFill>
                <a:latin typeface="Verdana"/>
              </a:defRPr>
            </a:pPr>
            <a:r>
              <a:t>HYBRID MICROKERNEL</a:t>
            </a:r>
          </a:p>
          <a:p>
            <a:pPr>
              <a:spcAft>
                <a:spcPts val="1200"/>
              </a:spcAft>
              <a:defRPr sz="1800" b="1">
                <a:solidFill>
                  <a:srgbClr val="F8FAFC"/>
                </a:solidFill>
                <a:latin typeface="Georgia"/>
              </a:defRPr>
            </a:pPr>
            <a:r>
              <a:t>M-TOR Architecture</a:t>
            </a:r>
          </a:p>
          <a:p>
            <a:pPr>
              <a:defRPr sz="1200">
                <a:solidFill>
                  <a:srgbClr val="94A3B8"/>
                </a:solidFill>
                <a:latin typeface="Verdana"/>
              </a:defRPr>
            </a:pPr>
            <a:r>
              <a:t>Native Kotlin/WebView kernel spine handles high-frequency sensors &amp; TFLite models. Heavy generative AI daemons are sandboxed in user-space Termux containers across isolated loopback ports.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2468880"/>
            <a:ext cx="3328416" cy="38404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000" b="1">
                <a:solidFill>
                  <a:srgbClr val="F59E0B"/>
                </a:solidFill>
                <a:latin typeface="Verdana"/>
              </a:defRPr>
            </a:pPr>
            <a:r>
              <a:t>ALGEBRAIC INTENT ROUTING</a:t>
            </a:r>
          </a:p>
          <a:p>
            <a:pPr>
              <a:spcAft>
                <a:spcPts val="1200"/>
              </a:spcAft>
              <a:defRPr sz="1800" b="1">
                <a:solidFill>
                  <a:srgbClr val="F8FAFC"/>
                </a:solidFill>
                <a:latin typeface="Georgia"/>
              </a:defRPr>
            </a:pPr>
            <a:r>
              <a:t>Zero-LLM Tuple Engine</a:t>
            </a:r>
          </a:p>
          <a:p>
            <a:pPr>
              <a:defRPr sz="1200">
                <a:solidFill>
                  <a:srgbClr val="94A3B8"/>
                </a:solidFill>
                <a:latin typeface="Verdana"/>
              </a:defRPr>
            </a:pPr>
            <a:r>
              <a:t>User intent is mapped to an algebraic 4-tuple vector: I = (Mode, Channel, Modality, Action). System actions execute in &lt;10ms without wasting tokens or introducing LLM hallucinations.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2468880"/>
            <a:ext cx="3328416" cy="38404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000" b="1">
                <a:solidFill>
                  <a:srgbClr val="3B82F6"/>
                </a:solidFill>
                <a:latin typeface="Verdana"/>
              </a:defRPr>
            </a:pPr>
            <a:r>
              <a:t>DECOUPLED PUB/SUB &amp; SCHEMA</a:t>
            </a:r>
          </a:p>
          <a:p>
            <a:pPr>
              <a:spcAft>
                <a:spcPts val="1200"/>
              </a:spcAft>
              <a:defRPr sz="1800" b="1">
                <a:solidFill>
                  <a:srgbClr val="F8FAFC"/>
                </a:solidFill>
                <a:latin typeface="Georgia"/>
              </a:defRPr>
            </a:pPr>
            <a:r>
              <a:t>Uniform Event Pipeline</a:t>
            </a:r>
          </a:p>
          <a:p>
            <a:pPr>
              <a:defRPr sz="1200">
                <a:solidFill>
                  <a:srgbClr val="94A3B8"/>
                </a:solidFill>
                <a:latin typeface="Verdana"/>
              </a:defRPr>
            </a:pPr>
            <a:r>
              <a:t>An asynchronous event bus decouples sensor producers from UI/TTS consumers. Standardized JSON 'molecules' allow seamless data flow across CRT displays, logs, and LoRa mesh.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Verdana"/>
              </a:defRPr>
            </a:pPr>
            <a:r>
              <a:t>PROJECT TRICORDER MK I •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200" b="1">
                <a:solidFill>
                  <a:srgbClr val="F8FAFC"/>
                </a:solidFill>
                <a:latin typeface="Georgia"/>
              </a:defRPr>
            </a:pPr>
            <a:r>
              <a:t>M-TOR Microkernel Sandboxes Heavy Generative AI Across Four Local Loopback Ports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0B981"/>
                </a:solidFill>
                <a:latin typeface="Verdana"/>
              </a:defRPr>
            </a:pPr>
            <a:r>
              <a:t>PORT :8080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400" b="1">
                <a:solidFill>
                  <a:srgbClr val="F8FAFC"/>
                </a:solidFill>
                <a:latin typeface="Georgia"/>
              </a:defRPr>
            </a:pPr>
            <a:r>
              <a:t>Gemma 3 4B Instruct</a:t>
            </a:r>
          </a:p>
          <a:p>
            <a:pPr>
              <a:defRPr sz="1000">
                <a:solidFill>
                  <a:srgbClr val="94A3B8"/>
                </a:solidFill>
                <a:latin typeface="Verdana"/>
              </a:defRPr>
            </a:pPr>
            <a:r>
              <a:t>Conversational Chat</a:t>
            </a:r>
            <a:br/>
            <a:r>
              <a:t>&amp; Scientific Inquiry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645920"/>
            <a:ext cx="246888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B82F6"/>
                </a:solidFill>
                <a:latin typeface="Verdana"/>
              </a:defRPr>
            </a:pPr>
            <a:r>
              <a:t>PORT :8081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400" b="1">
                <a:solidFill>
                  <a:srgbClr val="F8FAFC"/>
                </a:solidFill>
                <a:latin typeface="Georgia"/>
              </a:defRPr>
            </a:pPr>
            <a:r>
              <a:t>SmolVLM2-500M</a:t>
            </a:r>
          </a:p>
          <a:p>
            <a:pPr>
              <a:defRPr sz="1000">
                <a:solidFill>
                  <a:srgbClr val="94A3B8"/>
                </a:solidFill>
                <a:latin typeface="Verdana"/>
              </a:defRPr>
            </a:pPr>
            <a:r>
              <a:t>Real-Time Camera Scene</a:t>
            </a:r>
            <a:br/>
            <a:r>
              <a:t>Captioning &amp; Sentry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246888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59E0B"/>
                </a:solidFill>
                <a:latin typeface="Verdana"/>
              </a:defRPr>
            </a:pPr>
            <a:r>
              <a:t>PORT :8188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400" b="1">
                <a:solidFill>
                  <a:srgbClr val="F8FAFC"/>
                </a:solidFill>
                <a:latin typeface="Georgia"/>
              </a:defRPr>
            </a:pPr>
            <a:r>
              <a:t>Stable Diffusion 2.1</a:t>
            </a:r>
          </a:p>
          <a:p>
            <a:pPr>
              <a:defRPr sz="1000">
                <a:solidFill>
                  <a:srgbClr val="94A3B8"/>
                </a:solidFill>
                <a:latin typeface="Verdana"/>
              </a:defRPr>
            </a:pPr>
            <a:r>
              <a:t>Field Pictogram &amp; Diagram</a:t>
            </a:r>
            <a:br/>
            <a:r>
              <a:t>Generation ('Imagine')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645920"/>
            <a:ext cx="246888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0B981"/>
                </a:solidFill>
                <a:latin typeface="Verdana"/>
              </a:defRPr>
            </a:pPr>
            <a:r>
              <a:t>PORT :5000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400" b="1">
                <a:solidFill>
                  <a:srgbClr val="F8FAFC"/>
                </a:solidFill>
                <a:latin typeface="Georgia"/>
              </a:defRPr>
            </a:pPr>
            <a:r>
              <a:t>Kokoro ONNX (82M)</a:t>
            </a:r>
          </a:p>
          <a:p>
            <a:pPr>
              <a:defRPr sz="1000">
                <a:solidFill>
                  <a:srgbClr val="94A3B8"/>
                </a:solidFill>
                <a:latin typeface="Verdana"/>
              </a:defRPr>
            </a:pPr>
            <a:r>
              <a:t>Chunked Neural Voice</a:t>
            </a:r>
            <a:br/>
            <a:r>
              <a:t>Synthesis (TTS)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521208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200" b="1">
                <a:solidFill>
                  <a:srgbClr val="10B981"/>
                </a:solidFill>
                <a:latin typeface="Verdana"/>
              </a:defRPr>
            </a:pPr>
            <a:r>
              <a:t>KERNEL SPINE (Native Android / Kotlin APK)</a:t>
            </a:r>
          </a:p>
          <a:p>
            <a:pPr>
              <a:defRPr sz="1100">
                <a:solidFill>
                  <a:srgbClr val="F8FAFC"/>
                </a:solidFill>
                <a:latin typeface="Verdana"/>
              </a:defRPr>
            </a:pPr>
            <a:r>
              <a:t>• Hardware Permissions &amp; Raw PCM Audio / Camera Feeds</a:t>
            </a:r>
            <a:br/>
            <a:r>
              <a:t>• Low-Latency In-Process TFLite Classifiers (YAMNet, BirdNET, iNaturalist)</a:t>
            </a:r>
            <a:br/>
            <a:r>
              <a:t>• Android GnssClock Nanosecond UTC Time &amp; IMU Orientation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8095" y="4114800"/>
            <a:ext cx="521208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200" b="1">
                <a:solidFill>
                  <a:srgbClr val="F59E0B"/>
                </a:solidFill>
                <a:latin typeface="Verdana"/>
              </a:defRPr>
            </a:pPr>
            <a:r>
              <a:t>FAULT ISOLATION &amp; MEMORY REALISM</a:t>
            </a:r>
          </a:p>
          <a:p>
            <a:pPr>
              <a:defRPr sz="1100">
                <a:solidFill>
                  <a:srgbClr val="F8FAFC"/>
                </a:solidFill>
                <a:latin typeface="Verdana"/>
              </a:defRPr>
            </a:pPr>
            <a:r>
              <a:t>• Strict 12 GB RAM Budget Management on Snapdragon 888</a:t>
            </a:r>
            <a:br/>
            <a:r>
              <a:t>• Termux Daemons Sandboxed on Local Loopback (127.0.0.1)</a:t>
            </a:r>
            <a:br/>
            <a:r>
              <a:t>• Heavy Model Spikes or Crashes Never Freeze Core OS Sensor Loop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Verdana"/>
              </a:defRPr>
            </a:pPr>
            <a:r>
              <a:t>PROJECT TRICORDER MK I •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200" b="1">
                <a:solidFill>
                  <a:srgbClr val="F8FAFC"/>
                </a:solidFill>
                <a:latin typeface="Georgia"/>
              </a:defRPr>
            </a:pPr>
            <a:r>
              <a:t>Algebraic Tuple Routing Eliminates Command Latency and Hallucinations at the Door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728655" cy="1005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000" b="1">
                <a:solidFill>
                  <a:srgbClr val="10B981"/>
                </a:solidFill>
                <a:latin typeface="Verdana"/>
              </a:defRPr>
            </a:pPr>
            <a:r>
              <a:t>ALGEBRAIC INTENT ROUTING FORMULA</a:t>
            </a:r>
          </a:p>
          <a:p>
            <a:pPr>
              <a:defRPr sz="1800" b="1">
                <a:solidFill>
                  <a:srgbClr val="F59E0B"/>
                </a:solidFill>
                <a:latin typeface="Georgia"/>
              </a:defRPr>
            </a:pPr>
            <a:r>
              <a:t>Intent Vector  I = ( Mode, InputChannel, TargetModality, Action 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834640"/>
            <a:ext cx="2468880" cy="3474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000" b="1">
                <a:solidFill>
                  <a:srgbClr val="10B981"/>
                </a:solidFill>
                <a:latin typeface="Verdana"/>
              </a:defRPr>
            </a:pPr>
            <a:r>
              <a:t>1. CAPTURE INPUT</a:t>
            </a:r>
          </a:p>
          <a:p>
            <a:pPr>
              <a:spcAft>
                <a:spcPts val="1000"/>
              </a:spcAft>
              <a:defRPr sz="1400" b="1">
                <a:solidFill>
                  <a:srgbClr val="F8FAFC"/>
                </a:solidFill>
                <a:latin typeface="Georgia"/>
              </a:defRPr>
            </a:pPr>
            <a:r>
              <a:t>Multi-Modal Trigger</a:t>
            </a:r>
          </a:p>
          <a:p>
            <a:pPr>
              <a:defRPr sz="1100">
                <a:solidFill>
                  <a:srgbClr val="94A3B8"/>
                </a:solidFill>
                <a:latin typeface="Verdana"/>
              </a:defRPr>
            </a:pPr>
            <a:r>
              <a:t>Voice keyword, physical touch event, or automated sensor threshold enters the system via native bridge.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2834640"/>
            <a:ext cx="2468880" cy="3474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000" b="1">
                <a:solidFill>
                  <a:srgbClr val="3B82F6"/>
                </a:solidFill>
                <a:latin typeface="Verdana"/>
              </a:defRPr>
            </a:pPr>
            <a:r>
              <a:t>2. TUPLE MATCH</a:t>
            </a:r>
          </a:p>
          <a:p>
            <a:pPr>
              <a:spcAft>
                <a:spcPts val="1000"/>
              </a:spcAft>
              <a:defRPr sz="1400" b="1">
                <a:solidFill>
                  <a:srgbClr val="F8FAFC"/>
                </a:solidFill>
                <a:latin typeface="Georgia"/>
              </a:defRPr>
            </a:pPr>
            <a:r>
              <a:t>Zero-LLM Projection</a:t>
            </a:r>
          </a:p>
          <a:p>
            <a:pPr>
              <a:defRPr sz="1100">
                <a:solidFill>
                  <a:srgbClr val="94A3B8"/>
                </a:solidFill>
                <a:latin typeface="Verdana"/>
              </a:defRPr>
            </a:pPr>
            <a:r>
              <a:t>tupleEngine.mjs maps the raw input directly to the 4-tuple vector using deterministic algebraic rules.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834640"/>
            <a:ext cx="2468880" cy="3474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000" b="1">
                <a:solidFill>
                  <a:srgbClr val="F59E0B"/>
                </a:solidFill>
                <a:latin typeface="Verdana"/>
              </a:defRPr>
            </a:pPr>
            <a:r>
              <a:t>3. SYSTEM EXECUTION</a:t>
            </a:r>
          </a:p>
          <a:p>
            <a:pPr>
              <a:spcAft>
                <a:spcPts val="1000"/>
              </a:spcAft>
              <a:defRPr sz="1400" b="1">
                <a:solidFill>
                  <a:srgbClr val="F8FAFC"/>
                </a:solidFill>
                <a:latin typeface="Georgia"/>
              </a:defRPr>
            </a:pPr>
            <a:r>
              <a:t>Instant Action (&lt;10ms)</a:t>
            </a:r>
          </a:p>
          <a:p>
            <a:pPr>
              <a:defRPr sz="1100">
                <a:solidFill>
                  <a:srgbClr val="94A3B8"/>
                </a:solidFill>
                <a:latin typeface="Verdana"/>
              </a:defRPr>
            </a:pPr>
            <a:r>
              <a:t>Deterministic system commands (CLOCK, COMLINK, NAV, DICTATION) execute instantly without token cost.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2834640"/>
            <a:ext cx="2468880" cy="3474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000" b="1">
                <a:solidFill>
                  <a:srgbClr val="10B981"/>
                </a:solidFill>
                <a:latin typeface="Verdana"/>
              </a:defRPr>
            </a:pPr>
            <a:r>
              <a:t>4. GENERATIVE FALLBACK</a:t>
            </a:r>
          </a:p>
          <a:p>
            <a:pPr>
              <a:spcAft>
                <a:spcPts val="1000"/>
              </a:spcAft>
              <a:defRPr sz="1400" b="1">
                <a:solidFill>
                  <a:srgbClr val="F8FAFC"/>
                </a:solidFill>
                <a:latin typeface="Georgia"/>
              </a:defRPr>
            </a:pPr>
            <a:r>
              <a:t>Targeted LLM Hiring</a:t>
            </a:r>
          </a:p>
          <a:p>
            <a:pPr>
              <a:defRPr sz="1100">
                <a:solidFill>
                  <a:srgbClr val="94A3B8"/>
                </a:solidFill>
                <a:latin typeface="Verdana"/>
              </a:defRPr>
            </a:pPr>
            <a:r>
              <a:t>Heavy LLM/VLM microservices are hired only when true open-ended inquiry is explicitly required.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Verdana"/>
              </a:defRPr>
            </a:pPr>
            <a:r>
              <a:t>PROJECT TRICORDER MK I •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200" b="1">
                <a:solidFill>
                  <a:srgbClr val="F8FAFC"/>
                </a:solidFill>
                <a:latin typeface="Georgia"/>
              </a:defRPr>
            </a:pPr>
            <a:r>
              <a:t>EventBus Pub/Sub Decouples Real-Time Native Sensors from User-Space Consumers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100" b="1">
                <a:solidFill>
                  <a:srgbClr val="10B981"/>
                </a:solidFill>
                <a:latin typeface="Verdana"/>
              </a:defRPr>
            </a:pPr>
            <a:r>
              <a:t>EVENT-DRIVEN PUB/SUB ARCHITECTURE</a:t>
            </a:r>
          </a:p>
          <a:p>
            <a:pPr>
              <a:spcBef>
                <a:spcPts val="800"/>
              </a:spcBef>
              <a:defRPr sz="1300" b="1">
                <a:solidFill>
                  <a:srgbClr val="F8FAFC"/>
                </a:solidFill>
                <a:latin typeface="Georgia"/>
              </a:defRPr>
            </a:pPr>
            <a:r>
              <a:t>• Asynchronous Decoupling</a:t>
            </a:r>
          </a:p>
          <a:p>
            <a:pPr>
              <a:defRPr sz="1100">
                <a:solidFill>
                  <a:srgbClr val="94A3B8"/>
                </a:solidFill>
                <a:latin typeface="Verdana"/>
              </a:defRPr>
            </a:pPr>
            <a:r>
              <a:t>eventBus.mjs handles event distribution between native Kotlin producers, JavaScript WebView renderers, and Termux daemons.</a:t>
            </a:r>
          </a:p>
          <a:p>
            <a:pPr>
              <a:spcBef>
                <a:spcPts val="800"/>
              </a:spcBef>
              <a:defRPr sz="1300" b="1">
                <a:solidFill>
                  <a:srgbClr val="F8FAFC"/>
                </a:solidFill>
                <a:latin typeface="Georgia"/>
              </a:defRPr>
            </a:pPr>
            <a:r>
              <a:t>• Flow Control Weirs</a:t>
            </a:r>
          </a:p>
          <a:p>
            <a:pPr>
              <a:defRPr sz="1100">
                <a:solidFill>
                  <a:srgbClr val="94A3B8"/>
                </a:solidFill>
                <a:latin typeface="Verdana"/>
              </a:defRPr>
            </a:pPr>
            <a:r>
              <a:t>Prevents high-frequency sensor updates from overwhelming slow render threads or choking speech synthesis channels.</a:t>
            </a:r>
          </a:p>
          <a:p>
            <a:pPr>
              <a:spcBef>
                <a:spcPts val="800"/>
              </a:spcBef>
              <a:defRPr sz="1300" b="1">
                <a:solidFill>
                  <a:srgbClr val="F8FAFC"/>
                </a:solidFill>
                <a:latin typeface="Georgia"/>
              </a:defRPr>
            </a:pPr>
            <a:r>
              <a:t>• Immediate Abort Keys (IPL/ALL)</a:t>
            </a:r>
          </a:p>
          <a:p>
            <a:pPr>
              <a:defRPr sz="1100">
                <a:solidFill>
                  <a:srgbClr val="94A3B8"/>
                </a:solidFill>
                <a:latin typeface="Verdana"/>
              </a:defRPr>
            </a:pPr>
            <a:r>
              <a:t>Instantly terminates stuck LLM/TTS streams without tearing down the core operating realm state.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8095" y="1554480"/>
            <a:ext cx="521208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100" b="1">
                <a:solidFill>
                  <a:srgbClr val="F59E0B"/>
                </a:solidFill>
                <a:latin typeface="Verdana"/>
              </a:defRPr>
            </a:pPr>
            <a:r>
              <a:t>UNIFORM 'MOLECULE' DATA SCHEMA</a:t>
            </a:r>
          </a:p>
          <a:p>
            <a:pPr>
              <a:spcAft>
                <a:spcPts val="1200"/>
              </a:spcAft>
              <a:defRPr sz="1000">
                <a:solidFill>
                  <a:srgbClr val="F59E0B"/>
                </a:solidFill>
                <a:latin typeface="Courier"/>
              </a:defRPr>
            </a:pPr>
            <a:r>
              <a:t>{</a:t>
            </a:r>
            <a:br/>
            <a:r>
              <a:t>  "kind": "SENSOR_HIT",</a:t>
            </a:r>
            <a:br/>
            <a:r>
              <a:t>  "text": "BirdNET: Steller's Jay (92%)",</a:t>
            </a:r>
            <a:br/>
            <a:r>
              <a:t>  "timestamp": 1727280000,</a:t>
            </a:r>
            <a:br/>
            <a:r>
              <a:t>  "photo": "data:image/jpeg;base64,...",</a:t>
            </a:r>
            <a:br/>
            <a:r>
              <a:t>  "extra": { "lat": 37.7749, "lon": -122.4194 }</a:t>
            </a:r>
            <a:br/>
            <a:r>
              <a:t>}</a:t>
            </a:r>
          </a:p>
          <a:p>
            <a:pPr>
              <a:defRPr sz="1300" b="1">
                <a:solidFill>
                  <a:srgbClr val="F8FAFC"/>
                </a:solidFill>
                <a:latin typeface="Georgia"/>
              </a:defRPr>
            </a:pPr>
            <a:r>
              <a:t>• Data as Water Paradigm</a:t>
            </a:r>
          </a:p>
          <a:p>
            <a:pPr>
              <a:defRPr sz="1100">
                <a:solidFill>
                  <a:srgbClr val="94A3B8"/>
                </a:solidFill>
                <a:latin typeface="Verdana"/>
              </a:defRPr>
            </a:pPr>
            <a:r>
              <a:t>A single, standard JSON event structure carries all telemetry, visual frames, audio classifications, and field notes.</a:t>
            </a:r>
          </a:p>
          <a:p>
            <a:pPr>
              <a:defRPr sz="1300" b="1">
                <a:solidFill>
                  <a:srgbClr val="F8FAFC"/>
                </a:solidFill>
                <a:latin typeface="Georgia"/>
              </a:defRPr>
            </a:pPr>
            <a:r>
              <a:t>• Multi-Target Flow</a:t>
            </a:r>
          </a:p>
          <a:p>
            <a:pPr>
              <a:defRPr sz="1100">
                <a:solidFill>
                  <a:srgbClr val="94A3B8"/>
                </a:solidFill>
                <a:latin typeface="Verdana"/>
              </a:defRPr>
            </a:pPr>
            <a:r>
              <a:t>The exact same molecule renders on the CRT screen, appends to JSONL logs, triggers Kokoro TTS, and broadcasts over LoRa mesh.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Verdana"/>
              </a:defRPr>
            </a:pPr>
            <a:r>
              <a:t>PROJECT TRICORDER MK I •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200" b="1">
                <a:solidFill>
                  <a:srgbClr val="F8FAFC"/>
                </a:solidFill>
                <a:latin typeface="Georgia"/>
              </a:defRPr>
            </a:pPr>
            <a:r>
              <a:t>Cover Cockpit HUD and Multi-Bearer Mesh Extend Real-Time Operations Off-Grid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100" b="1">
                <a:solidFill>
                  <a:srgbClr val="10B981"/>
                </a:solidFill>
                <a:latin typeface="Verdana"/>
              </a:defRPr>
            </a:pPr>
            <a:r>
              <a:t>COVER COCKPIT MODE (Rev 0.6.67–0.6.71)</a:t>
            </a:r>
          </a:p>
          <a:p>
            <a:pPr>
              <a:spcBef>
                <a:spcPts val="800"/>
              </a:spcBef>
              <a:defRPr sz="1300" b="1">
                <a:solidFill>
                  <a:srgbClr val="F8FAFC"/>
                </a:solidFill>
                <a:latin typeface="Georgia"/>
              </a:defRPr>
            </a:pPr>
            <a:r>
              <a:t>• Foldable Outer Screen Optimization</a:t>
            </a:r>
          </a:p>
          <a:p>
            <a:pPr>
              <a:defRPr sz="1100">
                <a:solidFill>
                  <a:srgbClr val="94A3B8"/>
                </a:solidFill>
                <a:latin typeface="Verdana"/>
              </a:defRPr>
            </a:pPr>
            <a:r>
              <a:t>Engineered for the closed Samsung Galaxy Z Fold 3 outer display in landscape orientation.</a:t>
            </a:r>
          </a:p>
          <a:p>
            <a:pPr>
              <a:spcBef>
                <a:spcPts val="800"/>
              </a:spcBef>
              <a:defRPr sz="1300" b="1">
                <a:solidFill>
                  <a:srgbClr val="F8FAFC"/>
                </a:solidFill>
                <a:latin typeface="Georgia"/>
              </a:defRPr>
            </a:pPr>
            <a:r>
              <a:t>• Landscape ADI Horizon HUD</a:t>
            </a:r>
          </a:p>
          <a:p>
            <a:pPr>
              <a:defRPr sz="1100">
                <a:solidFill>
                  <a:srgbClr val="94A3B8"/>
                </a:solidFill>
                <a:latin typeface="Verdana"/>
              </a:defRPr>
            </a:pPr>
            <a:r>
              <a:t>Transforms glass into an edge-to-edge Attitude Direction Indicator (ADI) with real-time pitch and roll response.</a:t>
            </a:r>
          </a:p>
          <a:p>
            <a:pPr>
              <a:spcBef>
                <a:spcPts val="800"/>
              </a:spcBef>
              <a:defRPr sz="1300" b="1">
                <a:solidFill>
                  <a:srgbClr val="F8FAFC"/>
                </a:solidFill>
                <a:latin typeface="Georgia"/>
              </a:defRPr>
            </a:pPr>
            <a:r>
              <a:t>• High-Contrast Phosphor Digits</a:t>
            </a:r>
          </a:p>
          <a:p>
            <a:pPr>
              <a:defRPr sz="1100">
                <a:solidFill>
                  <a:srgbClr val="94A3B8"/>
                </a:solidFill>
                <a:latin typeface="Verdana"/>
              </a:defRPr>
            </a:pPr>
            <a:r>
              <a:t>Displays crisp HUD readouts for Heading, Speed, Barometric Pressure, and Altitude while uncluttering non-flight UI elements.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8095" y="155448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100" b="1">
                <a:solidFill>
                  <a:srgbClr val="3B82F6"/>
                </a:solidFill>
                <a:latin typeface="Verdana"/>
              </a:defRPr>
            </a:pPr>
            <a:r>
              <a:t>DUAL-BEARER COMLINK MESH</a:t>
            </a:r>
          </a:p>
          <a:p>
            <a:pPr>
              <a:spcBef>
                <a:spcPts val="800"/>
              </a:spcBef>
              <a:defRPr sz="1300" b="1">
                <a:solidFill>
                  <a:srgbClr val="F8FAFC"/>
                </a:solidFill>
                <a:latin typeface="Georgia"/>
              </a:defRPr>
            </a:pPr>
            <a:r>
              <a:t>• Short-Range Nearby Mesh</a:t>
            </a:r>
          </a:p>
          <a:p>
            <a:pPr>
              <a:defRPr sz="1100">
                <a:solidFill>
                  <a:srgbClr val="94A3B8"/>
                </a:solidFill>
                <a:latin typeface="Verdana"/>
              </a:defRPr>
            </a:pPr>
            <a:r>
              <a:t>Utilizes Google Nearby Connections (P2P Wi-Fi/Bluetooth) for zero-latency local team alerts and audio clips.</a:t>
            </a:r>
          </a:p>
          <a:p>
            <a:pPr>
              <a:spcBef>
                <a:spcPts val="800"/>
              </a:spcBef>
              <a:defRPr sz="1300" b="1">
                <a:solidFill>
                  <a:srgbClr val="F8FAFC"/>
                </a:solidFill>
                <a:latin typeface="Georgia"/>
              </a:defRPr>
            </a:pPr>
            <a:r>
              <a:t>• Long-Haul LoRa Integration</a:t>
            </a:r>
          </a:p>
          <a:p>
            <a:pPr>
              <a:defRPr sz="1100">
                <a:solidFill>
                  <a:srgbClr val="94A3B8"/>
                </a:solidFill>
                <a:latin typeface="Verdana"/>
              </a:defRPr>
            </a:pPr>
            <a:r>
              <a:t>Pairs via BLE to Meshtastic / LoRa hardware nodes (SenseCAP T1000-E) for long-distance text and telemetry relay.</a:t>
            </a:r>
          </a:p>
          <a:p>
            <a:pPr>
              <a:spcBef>
                <a:spcPts val="800"/>
              </a:spcBef>
              <a:defRPr sz="1300" b="1">
                <a:solidFill>
                  <a:srgbClr val="F8FAFC"/>
                </a:solidFill>
                <a:latin typeface="Georgia"/>
              </a:defRPr>
            </a:pPr>
            <a:r>
              <a:t>• Blackout Field Synchronization</a:t>
            </a:r>
          </a:p>
          <a:p>
            <a:pPr>
              <a:defRPr sz="1100">
                <a:solidFill>
                  <a:srgbClr val="94A3B8"/>
                </a:solidFill>
                <a:latin typeface="Verdana"/>
              </a:defRPr>
            </a:pPr>
            <a:r>
              <a:t>Enables landing party units in cell-blackout zones to exchange PTT voice, waypoint locations, and sentry warnings.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Verdana"/>
              </a:defRPr>
            </a:pPr>
            <a:r>
              <a:t>PROJECT TRICORDER MK I •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200" b="1">
                <a:solidFill>
                  <a:srgbClr val="F8FAFC"/>
                </a:solidFill>
                <a:latin typeface="Georgia"/>
              </a:defRPr>
            </a:pPr>
            <a:r>
              <a:t>Architectural Blueprint for Autonomous Edge Computing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28416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000" b="1">
                <a:solidFill>
                  <a:srgbClr val="10B981"/>
                </a:solidFill>
                <a:latin typeface="Verdana"/>
              </a:defRPr>
            </a:pPr>
            <a:r>
              <a:t>ECONOMIC &amp; ENGINEERING FEAT</a:t>
            </a:r>
          </a:p>
          <a:p>
            <a:pPr>
              <a:spcAft>
                <a:spcPts val="1400"/>
              </a:spcAft>
              <a:defRPr sz="1800" b="1">
                <a:solidFill>
                  <a:srgbClr val="F8FAFC"/>
                </a:solidFill>
                <a:latin typeface="Georgia"/>
              </a:defRPr>
            </a:pPr>
            <a:r>
              <a:t>Cloud-Free Edge AI</a:t>
            </a:r>
          </a:p>
          <a:p>
            <a:pPr>
              <a:defRPr sz="1200">
                <a:solidFill>
                  <a:srgbClr val="94A3B8"/>
                </a:solidFill>
                <a:latin typeface="Verdana"/>
              </a:defRPr>
            </a:pPr>
            <a:r>
              <a:t>Demonstrates that an autonomous, multi-sensor field instrument can run entirely on consumer hardware without recurring API costs or cloud infrastructure.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554480"/>
            <a:ext cx="3328416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000" b="1">
                <a:solidFill>
                  <a:srgbClr val="F59E0B"/>
                </a:solidFill>
                <a:latin typeface="Verdana"/>
              </a:defRPr>
            </a:pPr>
            <a:r>
              <a:t>TIMELESS SYSTEMS PATTERNS</a:t>
            </a:r>
          </a:p>
          <a:p>
            <a:pPr>
              <a:spcAft>
                <a:spcPts val="1400"/>
              </a:spcAft>
              <a:defRPr sz="1800" b="1">
                <a:solidFill>
                  <a:srgbClr val="F8FAFC"/>
                </a:solidFill>
                <a:latin typeface="Georgia"/>
              </a:defRPr>
            </a:pPr>
            <a:r>
              <a:t>Real-Time Discipline</a:t>
            </a:r>
          </a:p>
          <a:p>
            <a:pPr>
              <a:defRPr sz="1200">
                <a:solidFill>
                  <a:srgbClr val="94A3B8"/>
                </a:solidFill>
                <a:latin typeface="Verdana"/>
              </a:defRPr>
            </a:pPr>
            <a:r>
              <a:t>Proves that 40+ years of classic systems design—microkernels, pub/sub, algebraic routing, fault isolation—is the key to taming modern, resource-heavy AI workloads.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1554480"/>
            <a:ext cx="3328416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000" b="1">
                <a:solidFill>
                  <a:srgbClr val="3B82F6"/>
                </a:solidFill>
                <a:latin typeface="Verdana"/>
              </a:defRPr>
            </a:pPr>
            <a:r>
              <a:t>SCIENCE FICTION DELIVERED</a:t>
            </a:r>
          </a:p>
          <a:p>
            <a:pPr>
              <a:spcAft>
                <a:spcPts val="1400"/>
              </a:spcAft>
              <a:defRPr sz="1800" b="1">
                <a:solidFill>
                  <a:srgbClr val="F8FAFC"/>
                </a:solidFill>
                <a:latin typeface="Georgia"/>
              </a:defRPr>
            </a:pPr>
            <a:r>
              <a:t>Point. Name. Speak. Store. Show.</a:t>
            </a:r>
          </a:p>
          <a:p>
            <a:pPr>
              <a:defRPr sz="1200">
                <a:solidFill>
                  <a:srgbClr val="94A3B8"/>
                </a:solidFill>
                <a:latin typeface="Verdana"/>
              </a:defRPr>
            </a:pPr>
            <a:r>
              <a:t>Transforms the iconic Star Trek tricorder concept into a functional, offline-first field appliance operating reliably under extreme real-world constraints.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